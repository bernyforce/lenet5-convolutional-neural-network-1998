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 à tous. Je m'appelle Bernard Feugang Noussi (matricule 6189470). Je vous présente l'architecture LeNet-5 (1998), pionnière des réseaux convolutifs (CNN).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Regardez l'animation à droite : le filtre 3x3 glisse pixel par pixel sur le chiffre 7 pour remplir en direct la carte de caractéristiques.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L'animation en haut montre la propagation du signal dans les 7 couches de LeNet-5 : des deux blocs Convolution-Subsampling (C1-S2, C3-S4) jusqu'aux couches denses.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graphique animé à droite montre comment le neurone active sa sortie dès que la somme pondérée dépasse le seuil requis de 2.0.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NCR a déployé LeNet-5 dès juin 1996 pour traiter ~20 millions de chèques par jour, soit environ 10% du volume bancaire américain [Sect. III-B].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Max-Pooling animé à droite montre comment la compression 2x2 retient la valeur 88 pour assurer l'invariance aux déformations.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LeNet-5 est l'ancêtre direct d'AlexNet et de tous les modèles de vision modernes. Des outils de démonstration interactifs (Colab &amp; Web) accompagnent ce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Merci pour votre attention. Je suis maintenant disponible pour répondre à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188720"/>
            <a:ext cx="5303520" cy="38404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969DA"/>
                </a:solidFill>
              </a:defRPr>
            </a:pPr>
            <a:r>
              <a:t>ARCHITECTURE N°6 : RÉSEAU DE NEURONES CONVOLUTIF (CNN)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91640"/>
            <a:ext cx="94183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0F172A"/>
                </a:solidFill>
              </a:defRPr>
            </a:pPr>
            <a:r>
              <a:t>Architecture LeNet-5 (1998)</a:t>
            </a:r>
            <a:br/>
            <a:r>
              <a:t>La Naissance de la Vision par Ordinateur Moderne</a:t>
            </a:r>
          </a:p>
          <a:p>
            <a:pPr>
              <a:spcBef>
                <a:spcPts val="800"/>
              </a:spcBef>
              <a:defRPr sz="1400">
                <a:solidFill>
                  <a:srgbClr val="475569"/>
                </a:solidFill>
              </a:defRPr>
            </a:pPr>
            <a:r>
              <a:t>Analyse complète, fonctionnement interne, animations Remotion et impact historique.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977639"/>
            <a:ext cx="941832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969DA"/>
                </a:solidFill>
              </a:defRPr>
            </a:pPr>
            <a:r>
              <a:t>👨‍🎓 Étudiant : Feugang Noussi, Bernard        |        Matricule / N° Étudiant : 6189470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📚 Cours : 420-A60-BB — Algorithmes d'Apprentissage Profond (Session Été 2026)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📄 Article source : Yann LeCun, Léon Bottou, Yoshua Bengio, Patrick Haffner (AT&amp;T Labs-Research, IEEE 1998)</a:t>
            </a:r>
          </a:p>
          <a:p>
            <a:pPr>
              <a:spcBef>
                <a:spcPts val="400"/>
              </a:spcBef>
              <a:defRPr sz="1100">
                <a:solidFill>
                  <a:srgbClr val="16A34A"/>
                </a:solidFill>
              </a:defRPr>
            </a:pPr>
            <a:r>
              <a:t>⏱️ Format officiel : 7 minutes (+ 3 minutes de questions)  |  Explications claires TSA-Friendly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1. Le Problème &amp; La Solution : La Convolution Glissante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2/8  (0:45 - 1:45)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50" b="1">
                <a:solidFill>
                  <a:srgbClr val="0F172A"/>
                </a:solidFill>
              </a:defRPr>
            </a:pPr>
            <a:r>
              <a:t>Pourquoi les réseaux denses (MLP = Perceptron Multi-Couches) échouaient :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1. Perte de la topologie 2D : Aplatir l'image en 1D détruisait la proximité entre pixels voisins.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2. Explosion des paramètres : Des millions de poids rendant le calcul impossible sur le matériel de 1998.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3. Aucune invariance spatiale : Un décalage de 2 pixels du « 7 » provoquait une erreur totale.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La Révolution Convolution (Animée) : Le filtre glissant balaye l'image en partageant ses poids pour extraire les contours partout.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39512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convolu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056632" cy="284295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2. Fonctionnement Interne : Le Pipeline LeNet-5 en Mouvement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3/8  (1:45 - 3:00)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5912" cy="29260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lenet5_pipelin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43032" cy="2834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480560"/>
            <a:ext cx="1261872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Entrée (32×32)</a:t>
            </a:r>
          </a:p>
          <a:p>
            <a:pPr>
              <a:defRPr sz="819">
                <a:solidFill>
                  <a:srgbClr val="475569"/>
                </a:solidFill>
              </a:defRPr>
            </a:pPr>
            <a:r>
              <a:t>Image centrée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4832" y="4480560"/>
            <a:ext cx="1261872" cy="169164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C1 (28×28)</a:t>
            </a:r>
          </a:p>
          <a:p>
            <a:pPr>
              <a:defRPr sz="819">
                <a:solidFill>
                  <a:srgbClr val="475569"/>
                </a:solidFill>
              </a:defRPr>
            </a:pPr>
            <a:r>
              <a:t>6 filtres 5×5</a:t>
            </a:r>
            <a:br/>
            <a:r>
              <a:t>156 poids [Sect. II-B]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8144" y="4480560"/>
            <a:ext cx="1261872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S2 (14×14)</a:t>
            </a:r>
          </a:p>
          <a:p>
            <a:pPr>
              <a:defRPr sz="819">
                <a:solidFill>
                  <a:srgbClr val="475569"/>
                </a:solidFill>
              </a:defRPr>
            </a:pPr>
            <a:r>
              <a:t>Pool 2×2</a:t>
            </a:r>
            <a:br/>
            <a:r>
              <a:t>12 poids [Sect. II-B]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91455" y="4480560"/>
            <a:ext cx="1261872" cy="169164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C3 (10×10)</a:t>
            </a:r>
          </a:p>
          <a:p>
            <a:pPr>
              <a:defRPr sz="819">
                <a:solidFill>
                  <a:srgbClr val="475569"/>
                </a:solidFill>
              </a:defRPr>
            </a:pPr>
            <a:r>
              <a:t>16 filtres 5×5</a:t>
            </a:r>
            <a:br/>
            <a:r>
              <a:t>1 516 poids [Sect. II-B]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4480560"/>
            <a:ext cx="1261872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S4 (5×5)</a:t>
            </a:r>
          </a:p>
          <a:p>
            <a:pPr>
              <a:defRPr sz="819">
                <a:solidFill>
                  <a:srgbClr val="475569"/>
                </a:solidFill>
              </a:defRPr>
            </a:pPr>
            <a:r>
              <a:t>Pool 2×2</a:t>
            </a:r>
            <a:br/>
            <a:r>
              <a:t>32 poids [Sect. II-B]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0" y="4480560"/>
            <a:ext cx="1261872" cy="169164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C5 (120 u.)</a:t>
            </a:r>
          </a:p>
          <a:p>
            <a:pPr>
              <a:defRPr sz="819">
                <a:solidFill>
                  <a:srgbClr val="475569"/>
                </a:solidFill>
              </a:defRPr>
            </a:pPr>
            <a:r>
              <a:t>Dense / Conv</a:t>
            </a:r>
            <a:br/>
            <a:r>
              <a:t>48 120 poids [Sect. II-B]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51392" y="4480560"/>
            <a:ext cx="1261872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F6 (84 u.)</a:t>
            </a:r>
          </a:p>
          <a:p>
            <a:pPr>
              <a:defRPr sz="819">
                <a:solidFill>
                  <a:srgbClr val="475569"/>
                </a:solidFill>
              </a:defRPr>
            </a:pPr>
            <a:r>
              <a:t>Dense</a:t>
            </a:r>
            <a:br/>
            <a:r>
              <a:t>10 164 poids [Sect. II-B]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04704" y="4480560"/>
            <a:ext cx="1261872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Sortie (10)</a:t>
            </a:r>
          </a:p>
          <a:p>
            <a:pPr>
              <a:defRPr sz="819">
                <a:solidFill>
                  <a:srgbClr val="475569"/>
                </a:solidFill>
              </a:defRPr>
            </a:pPr>
            <a:r>
              <a:t>RBF / Classes</a:t>
            </a:r>
            <a:br/>
            <a:r>
              <a:t>Pic sur « 7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3. Données Chiffrées &amp; Activation (LeCun 1998)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4/8  (3:00 - 4:00)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Résultats Mesurés sur MNIST (70 000 images) :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Taux d'erreur record : 0,8 % : Sur les 10 000 images de test, l'erreur s'établit à 0,95% (sans distorsion) et 0,8% (avec distorsions) [Sect. III-B].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Nombre de paramètres : ~60 000 : Exactement 60 000 paramètres libres entraînables pour 340 915 connexions [Sect. II-A].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Mécanisme d'Activation (Animé) : Chaque neurone calcule la somme pondérée ∑(x·w) et émet une impulsion d'activation dès que le seuil est franchi.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Temps de calcul : &lt; 10 ms par chiffre sur puce DSP (Digital Signal Processor), permettant le temps réel.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39512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neuron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056632" cy="284295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4. Déploiement Industriel &amp; Applications Réelles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5/8  (4:00 - 4:50)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Un Succès Commercial Massif (depuis juin 1996) :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Déploiement Bancaire NCR : Intégré dans les trieuses automatiques de chèques par le constructeur NCR (National Cash Register) dès juin 1996 [Sect. III-B].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Volume Industriel Massif : Traitement d'environ ~20 millions de chèques par jour en production aux USA [Sect. III-B].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~10 % du Volume Américain : Représentait environ 10% de la totalité des chèques en circulation aux USA [Sect. III-B].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Lecture des Codes Postaux (USPS) : Utilisé également par les services postaux pour le tri automatique des enveloppes manuscrites.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3951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08_cheque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873752" cy="48737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5. Analyse Critique : Avantages &amp; Inconvénients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6/8  (4:50 - 5:40)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6A34A"/>
                </a:solidFill>
              </a:defRPr>
            </a:pPr>
            <a:r>
              <a:t>✅ FORCES &amp; AVANTAGES MAJEURS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Invariance spatiale : Reconnaît les formes même translatées grâce au Pooling.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Forte compacité : Seulement 60 000 poids grâce au partage des filtres [Sect. II-A].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Fiabilité industrielle : Taux d'erreur &lt; 1 % en conditions opérationnelles réelles [Sect. III-B].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</a:defRPr>
            </a:pPr>
            <a:r>
              <a:t>❌ LIMITES &amp; INCONVÉNIENTS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Limité aux petites images : Conçu pour des images monochromes 32×32 pixels.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Fonctions saturantes : Sigmoïdes/tanh provoquant l'évanouissement du gradient.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Sous-échantillonnage moyenné : Moins sélectif que le Max-Pooling moderne.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39512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pool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056632" cy="28429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6. Contribution à l'Évolution de l'IA Moderne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7/8  (5:40 - 6:25)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0969DA"/>
                </a:solidFill>
              </a:defRPr>
            </a:pPr>
            <a:r>
              <a:t>🚀 1. Le Triplet Fondamental CNN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LeNet-5 a formalisé l'enchaînement universel : Convolution ➔ Activation ➔ Pooling, standard de toute la vision actuelle.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0969DA"/>
                </a:solidFill>
              </a:defRPr>
            </a:pPr>
            <a:r>
              <a:t>🏆 2. Filiation Directe vers AlexNet (2012)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AlexNet (vainqueur d'ImageNet 2012) est une extension directe de LeNet-5, transposée sur GPU avec ReLU et Dropout.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0969DA"/>
                </a:solidFill>
              </a:defRPr>
            </a:pPr>
            <a:r>
              <a:t>🏗️ 3. L'Ère des Architectures Profondes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A ouvert la voie à VGG (2014), ResNet (2015), YOLO et aux modèles Vision Transformers d'aujourd'hui.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017520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0969DA"/>
                </a:solidFill>
              </a:defRPr>
            </a:pPr>
            <a:r>
              <a:t>📱 4. Applications Omniprésentes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Du déverrouillage Face ID à l'imagerie médicale et aux véhicules autonomes, les principes de LeNet-5 sont au cœur de l'IA.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09160"/>
            <a:ext cx="10725912" cy="1417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969DA"/>
                </a:solidFill>
              </a:defRPr>
            </a:pPr>
            <a:r>
              <a:t>🌐 OUTILS DE DÉMONSTRATION COMPLETS FOURNIS (Feugang Noussi, Bernard - 6189470) :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• Notebook Google Colab (demonstration_lenet5_colab.ipynb) avec entraînement en direct sur GPU et matrice de confusion.</a:t>
            </a:r>
            <a:br/>
            <a:r>
              <a:t>• Page Web interactive (dossier_rxneurones_lenet5.html) avec animations Remotion intégrées et quiz 10 questions.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7. Conclusion &amp; Questions (3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8/8  (6:25 - 7:00)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45643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🧠 1. Architecture Convolutive (CNN)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Spécialisée dans le traitement spatial 2D des images via des filtres partagés.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554480"/>
            <a:ext cx="345643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📈 2. Efficacité Prouvée sur le Terrain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0,8% d'erreur sur MNIST et ~20 millions de chèques traités/jour chez NCR [Sect. III-B].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554480"/>
            <a:ext cx="345643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🚀 3. Point de Départ du Deep Learning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Le socle architectural qui alimente la quasi-totalité des technologies de vision d'aujourd'hui.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10725912" cy="13716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6A34A"/>
                </a:solidFill>
              </a:defRPr>
            </a:pPr>
            <a:r>
              <a:t>💬 Merci pour votre attention ! Place à vos questions.</a:t>
            </a:r>
          </a:p>
          <a:p>
            <a:pPr algn="ctr"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Feugang Noussi, Bernard (Matricule: 6189470) — Cours 420-A60-BB (Été 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