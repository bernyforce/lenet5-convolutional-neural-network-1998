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 à tous. Je m'appelle Bernard Feugang Noussi (matricule 6189470). Je vous présente l'architecture LeNet-5 (1998), pionnière des réseaux convolutifs (CNN).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Regardez l'animation à droite : le filtre 3x3 glisse pixel par pixel sur le chiffre 7 pour remplir en direct la carte de caractéristiques.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L'animation illustre la propagation du signal à travers les 7 couches de LeNet-5 : des deux blocs Convolution-Subsampling (C1-S2, C3-S4) jusqu'aux couches de classification denses.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graphique animé à droite montre comment le neurone active sa sortie dès que la somme pondérée dépasse le seuil requis de 2.0.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n'était pas un modèle purement académique : NCR l'a déployé pour traiter des millions de chèques par mois, soit près de 10% du volume bancaire américain.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Max-Pooling animé à droite montre comment la compression 2x2 retient la valeur 88 pour assurer l'invariance aux déformations.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LeNet-5 est l'ancêtre direct d'AlexNet et de tous les modèles de vision modernes. Des outils de démonstration interactifs (Colab &amp; Web) accompagnent ce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Merci pour votre attention. Je suis maintenant disponible pour répondre à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777240"/>
            <a:ext cx="10362895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143000"/>
            <a:ext cx="4754880" cy="38404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969DA"/>
                </a:solidFill>
              </a:defRPr>
            </a:pPr>
            <a:r>
              <a:t>ARCHITECTURE N°6 : RÉSEAU CONVOLUTIF (CNN)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F172A"/>
                </a:solidFill>
              </a:defRPr>
            </a:pPr>
            <a:r>
              <a:t>Architecture LeNet-5 (1998)</a:t>
            </a:r>
            <a:br/>
            <a:r>
              <a:t>La Naissance de la Vision par Ordinateur Moderne</a:t>
            </a:r>
          </a:p>
          <a:p>
            <a:pPr>
              <a:spcBef>
                <a:spcPts val="800"/>
              </a:spcBef>
              <a:defRPr sz="1400">
                <a:solidFill>
                  <a:srgbClr val="475569"/>
                </a:solidFill>
              </a:defRPr>
            </a:pPr>
            <a:r>
              <a:t>Analyse complète, fonctionnement interne, animations Remotion et impact historique.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931920"/>
            <a:ext cx="941832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969DA"/>
                </a:solidFill>
              </a:defRPr>
            </a:pPr>
            <a:r>
              <a:t>👨‍🎓 Étudiant : Feugang Noussi, Bernard        |        Matricule / N° Étudiant : 6189470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📚 Cours : 420-A60-BB — Algorithmes d'Apprentissage Profond (Session Été 2026)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📄 Article source : Yann LeCun, Léon Bottou, Yoshua Bengio, Patrick Haffner (IEEE 1998)</a:t>
            </a:r>
          </a:p>
          <a:p>
            <a:pPr>
              <a:spcBef>
                <a:spcPts val="400"/>
              </a:spcBef>
              <a:defRPr sz="1100">
                <a:solidFill>
                  <a:srgbClr val="16A34A"/>
                </a:solidFill>
              </a:defRPr>
            </a:pPr>
            <a:r>
              <a:t>⏱️ Format officiel : 7 minutes (+ 3 minutes de questions)  |  Animations Motion Design intégrées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1. Le Problème &amp; La Solution : La Convolution Glissante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2/8  (0:45 - 1:45)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Pourquoi les réseaux denses (MLP) échouaient :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1. Perte de la topologie 2D : Aplatir l'image en vecteur 1D détruisait la proximité spatiale entre pixels voisins.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2. Explosion des paramètres : Des millions de poids nécessaires, rendant le calcul irréalisable en 1998.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3. Aucune invariance spatiale : Un simple décalage de 2 pixels du chiffre « 7 » provoquait une erreur totale.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La Révolution Convolution (Animée) : Un filtre glissant extrait les motifs locaux partout sur l'image avec un partage des poids optimal.</a:t>
            </a:r>
          </a:p>
        </p:txBody>
      </p:sp>
      <p:pic>
        <p:nvPicPr>
          <p:cNvPr id="7" name="Picture 6" descr="01_convolu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03520" cy="29817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2. Fonctionnement Interne : Le Pipeline LeNet-5 en Mouvement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3/8  (1:45 - 3:00) | Réf: LeCun et al. (1998)</a:t>
            </a:r>
          </a:p>
        </p:txBody>
      </p:sp>
      <p:pic>
        <p:nvPicPr>
          <p:cNvPr id="6" name="Picture 5" descr="04_lenet5_pipelin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58262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Entrée 32×32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Image centrée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4297680"/>
            <a:ext cx="1261872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C1 (28×28)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6 filtres 5×5</a:t>
            </a:r>
            <a:br/>
            <a:r>
              <a:t>156 poids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8144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S2 (14×14)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Subsampling 2×2</a:t>
            </a:r>
            <a:br/>
            <a:r>
              <a:t>12 poids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455" y="4297680"/>
            <a:ext cx="1261872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C3 (10×10)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16 filtres 5×5</a:t>
            </a:r>
            <a:br/>
            <a:r>
              <a:t>1 516 poids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S4 (5×5)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Subsampling 2×2</a:t>
            </a:r>
            <a:br/>
            <a:r>
              <a:t>32 poids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0" y="4297680"/>
            <a:ext cx="1261872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C5 (120 u.)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Dense / Conv</a:t>
            </a:r>
            <a:br/>
            <a:r>
              <a:t>48 120 poids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392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F6 (84 u.)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Dense</a:t>
            </a:r>
            <a:br/>
            <a:r>
              <a:t>10 164 poids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04704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Sortie (10)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RBF / Classes</a:t>
            </a:r>
            <a:br/>
            <a:r>
              <a:t>0 à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3. Données Chiffrées &amp; Activation (LeCun 1998)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4/8  (3:00 - 4:00)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Résultats Mesurés sur MNIST (70 000 images) :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Taux d'erreur record : 0,8 % : Sur les 10 000 images de test, l'erreur chute à 0,95% (sans distorsion) et 0,8% (avec distorsions) [Table 2].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Nombre de paramètres : ~60 000 : Exactement 60 000 paramètres libres entraînables pour 340 915 connexions [Table 1].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Mécanisme d'Activation (Animé) : Chaque neurone calcule la somme pondérée ∑(x·w) et émet une impulsion d'activation dès que le seuil est franchi.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Temps de calcul : &lt; 10 ms par chiffre sur puce DSP, permettant le temps réel en production.</a:t>
            </a:r>
          </a:p>
        </p:txBody>
      </p:sp>
      <p:pic>
        <p:nvPicPr>
          <p:cNvPr id="7" name="Picture 6" descr="02_neuron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03520" cy="29817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4. Déploiement Industriel &amp; Applications Réelles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5/8  (4:00 - 4:50)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Un Succès Commercial Massif dès 1998 :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Déploiement Bancaire NCR : Intégré dans les machines de tri automatique de chèques bancaires par le constructeur NCR [Section I].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Des Millions de Chèques par Mois : LeNet-5 lisait en production plusieurs millions de chèques/mois aux USA [Section I].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~10 % du Volume Américain : Estimé à 10% de tous les chèques en circulation aux USA à la fin des années 1990 [Wikipédia, LeNet].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Lecture des Codes Postaux (USPS) : Utilisé également pour le tri postal automatique des enveloppes manuscrites.</a:t>
            </a:r>
          </a:p>
        </p:txBody>
      </p:sp>
      <p:pic>
        <p:nvPicPr>
          <p:cNvPr id="7" name="Picture 6" descr="fig08_chequ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5. Analyse Critique : Avantages &amp; Inconvénients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6/8  (4:50 - 5:40)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6A34A"/>
                </a:solidFill>
              </a:defRPr>
            </a:pPr>
            <a:r>
              <a:t>✅ AVANTAGES MAJEURS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✔ Invariance spatiale : Reconnaît les formes même translatées grâce au Pooling animé ci-contre.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✔ Forte compacité : Seulement 60 000 poids grâce au partage des filtres.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✔ Apprentissage bout-en-bout : Filtres et décision entraînés ensemble par rétropropagation.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✔ Fiabilité industrielle : Taux d'erreur &lt; 1 % en conditions opérationnelles réelles.</a:t>
            </a:r>
          </a:p>
        </p:txBody>
      </p:sp>
      <p:pic>
        <p:nvPicPr>
          <p:cNvPr id="7" name="Picture 6" descr="03_pool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303520" cy="29817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6. Contribution à l'Évolution de l'IA Moderne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7/8  (5:40 - 6:25)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2591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L'Arbre Généalogique de la Vision par Ordinateur :</a:t>
            </a:r>
          </a:p>
          <a:p>
            <a:pPr>
              <a:spcAft>
                <a:spcPts val="800"/>
              </a:spcAft>
              <a:defRPr sz="1250">
                <a:solidFill>
                  <a:srgbClr val="475569"/>
                </a:solidFill>
              </a:defRPr>
            </a:pPr>
            <a:r>
              <a:t>🚀 Fondation du paradigme CNN : LeNet-5 a formalisé le triplet moderne : Convolution ➔ Activation non linéaire ➔ Sous-échantillonnage (Pooling).</a:t>
            </a:r>
          </a:p>
          <a:p>
            <a:pPr>
              <a:spcAft>
                <a:spcPts val="800"/>
              </a:spcAft>
              <a:defRPr sz="1250">
                <a:solidFill>
                  <a:srgbClr val="475569"/>
                </a:solidFill>
              </a:defRPr>
            </a:pPr>
            <a:r>
              <a:t>🚀 Filiation directe vers AlexNet (2012) : AlexNet (vainqueur d'ImageNet 2012) est une extension directe de LeNet-5 adaptée sur GPU avec ReLU et Dropout.</a:t>
            </a:r>
          </a:p>
          <a:p>
            <a:pPr>
              <a:spcAft>
                <a:spcPts val="800"/>
              </a:spcAft>
              <a:defRPr sz="1250">
                <a:solidFill>
                  <a:srgbClr val="475569"/>
                </a:solidFill>
              </a:defRPr>
            </a:pPr>
            <a:r>
              <a:t>🚀 L'ère des architectures profondes : A ouvert la voie à VGG (2014), ResNet (2015) et aux modèles de vision actuels (Vision Transformers, YOLO).</a:t>
            </a:r>
          </a:p>
          <a:p>
            <a:pPr>
              <a:spcAft>
                <a:spcPts val="800"/>
              </a:spcAft>
              <a:defRPr sz="1250">
                <a:solidFill>
                  <a:srgbClr val="475569"/>
                </a:solidFill>
              </a:defRPr>
            </a:pPr>
            <a:r>
              <a:t>🚀 Applications contemporaines omniprésentes : Du déverrouillage Face ID à l'imagerie médicale et aux véhicules autonomes, les principes de LeNet-5 restent au cœur de la vision 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46320"/>
            <a:ext cx="10725912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969DA"/>
                </a:solidFill>
              </a:defRPr>
            </a:pPr>
            <a:r>
              <a:t>🌐 OUTILS DE DÉMONSTRATION COMPLETS FOURNIS (Feugang Noussi, Bernard - 6189470) 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Notebook Google Colab (demonstration_lenet5_colab.ipynb) avec entraînement en direct sur GPU et matrice de confusion.</a:t>
            </a:r>
            <a:br/>
            <a:r>
              <a:t>• Page Web interactive (dossier_rxneurones_lenet5.html) avec animations Remotion intégrées et quiz 10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7. Conclusion &amp; Questions (3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8/8  (6:25 - 7:00)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Ce qu'il faut retenir en 3 points essentiels :</a:t>
            </a:r>
          </a:p>
          <a:p>
            <a:pPr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✔ 1. Une architecture Convolutive (CNN) : Spécialisée dans le traitement spatial 2D des images via des filtres partagés.</a:t>
            </a:r>
          </a:p>
          <a:p>
            <a:pPr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✔ 2. Une efficacité prouvée sur le terrain : 0,8% d'erreur sur MNIST et des millions de chèques traités chaque mois chez NCR.</a:t>
            </a:r>
          </a:p>
          <a:p>
            <a:pPr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✔ 3. Le point de départ du Deep Learning : Le socle architectural qui alimente la quasi-totalité des technologies de vision d'aujourd'hui.</a:t>
            </a:r>
          </a:p>
          <a:p>
            <a:pPr>
              <a:spcBef>
                <a:spcPts val="1600"/>
              </a:spcBef>
              <a:defRPr sz="1700" b="1">
                <a:solidFill>
                  <a:srgbClr val="0969DA"/>
                </a:solidFill>
              </a:defRPr>
            </a:pPr>
            <a:r>
              <a:t>💬 Merci pour votre attention ! (Feugang Noussi Bernard — 6189470)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