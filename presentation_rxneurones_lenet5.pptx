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Bonjour à tous. Je m'appelle Bernard Feugang Noussi (matricule 6189470). Je vous présente aujourd'hui l'architecture LeNet-5, conçue en 1998 par Yann LeCun. C'est une architecture strictement CONVOLUTIVE (CNN).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 LeNet-5, les réseaux fully-connected détruisaient la 2D et explosaient en nombre de poids. LeNet-5 résout ce problème fondamental par la convolution locale.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Voici le pipeline historique en 7 couches : 2 blocs Convolution-Subsampling (C1-S2 puis C3-S4) qui réduisent la taille tout en enrichissant les filtres, suivis de couches denses de classification (C5, F6, Sortie).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Dans l'article de 1998, LeCun rapporte un taux d'erreur de 0,8% sur MNIST avec 60 000 paramètres, surpassant tous les SVM et arbres de l'époque.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n'était pas un modèle purement académique : NCR l'a déployé pour traiter des millions de chèques par mois, soit près de 10% du volume bancaire américain.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résumé des forces et faiblesses : une robustesse et compacité exceptionnelles, mais limité aux petites images 32x32 et freiné par les sigmoïdes et la puissance de calcul de 1998.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LeNet-5 est l'ancêtre direct d'AlexNet et de tous les modèles de vision modernes. Sans lui, la vision par ordinateur n'aurait pas connu cette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Merci pour votre attention. Je suis maintenant disponible pour répondre à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777240"/>
            <a:ext cx="10362895" cy="5303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143000"/>
            <a:ext cx="475488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969DA"/>
                </a:solidFill>
              </a:defRPr>
            </a:pPr>
            <a:r>
              <a:t>ARCHITECTURE N°6 : RÉSEAU CONVOLUTIF (CNN)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0F172A"/>
                </a:solidFill>
              </a:defRPr>
            </a:pPr>
            <a:r>
              <a:t>Architecture LeNet-5 (1998)</a:t>
            </a:r>
            <a:br/>
            <a:r>
              <a:t>La Naissance de la Vision par Ordinateur Moderne</a:t>
            </a:r>
          </a:p>
          <a:p>
            <a:pPr>
              <a:spcBef>
                <a:spcPts val="800"/>
              </a:spcBef>
              <a:defRPr sz="1400">
                <a:solidFill>
                  <a:srgbClr val="475569"/>
                </a:solidFill>
              </a:defRPr>
            </a:pPr>
            <a:r>
              <a:t>Analyse complète, fonctionnement interne, déploiement industriel et impact historique.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931920"/>
            <a:ext cx="9418320" cy="1828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969DA"/>
                </a:solidFill>
              </a:defRPr>
            </a:pPr>
            <a:r>
              <a:t>👨‍🎓 Étudiant : Feugang Noussi, Bernard        |        Matricule / N° Étudiant : 6189470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📚 Cours : 420-A60-BB — Algorithmes d'Apprentissage Profond (Session Été 2026)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📄 Article source : Yann LeCun, Léon Bottou, Yoshua Bengio, Patrick Haffner (IEEE 1998)</a:t>
            </a:r>
          </a:p>
          <a:p>
            <a:pPr>
              <a:spcBef>
                <a:spcPts val="400"/>
              </a:spcBef>
              <a:defRPr sz="1100">
                <a:solidFill>
                  <a:srgbClr val="16A34A"/>
                </a:solidFill>
              </a:defRPr>
            </a:pPr>
            <a:r>
              <a:t>⏱️ Format officiel : 7 minutes (+ 3 minutes de questions)  |  Dossier Web interactif inclus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1. Le Problème : Qu'est-ce qui n'allait pas avant LeNet-5 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2/8  (0:45 - 1:45)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Les 3 Impasses des Réseaux Classiques (MLP)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1. Perte de la topologie 2D : Les réseaux denses forçaient l'aplatissement de l'image en 1D, détruisant la proximité spatiale entre pixels voisins.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2. Explosion des paramètres : Connecter chaque pixel à chaque neurone exigeait des millions de poids, rendant l'entraînement impossible avec le matériel de 1998.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3. Aucune invariance spatiale : Si le chiffre « 7 » était décalé de 2 pixels ou incliné, le réseau échouait totalement à le reconnaître.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La rupture LeNet-5 : Imposer le partage des poids et des champs récepteurs locaux (convolution) pour extraire des motifs partout sur l'image.</a:t>
            </a:r>
          </a:p>
        </p:txBody>
      </p:sp>
      <p:pic>
        <p:nvPicPr>
          <p:cNvPr id="7" name="Picture 6" descr="fig03_image_pixels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2. Fonctionnement Interne : L'Architecture LeNet-5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3/8  (1:45 - 3:00) | Réf: LeCun et al. (1998)</a:t>
            </a:r>
          </a:p>
        </p:txBody>
      </p:sp>
      <p:pic>
        <p:nvPicPr>
          <p:cNvPr id="6" name="Picture 5" descr="fig06_lenet5_pipelin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10362895" cy="103628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Entrée 32×32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Image centrée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84832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C1 (28×28)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6 filtres 5×5</a:t>
            </a:r>
            <a:br/>
            <a:r>
              <a:t>156 poids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S2 (14×14)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12 poids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5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C3 (10×10)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16 filtres 5×5</a:t>
            </a:r>
            <a:br/>
            <a:r>
              <a:t>1 516 poids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S4 (5×5)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Subsampling 2×2</a:t>
            </a:r>
            <a:br/>
            <a:r>
              <a:t>32 poids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0" y="4297680"/>
            <a:ext cx="1261872" cy="16459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C5 (120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 / Conv</a:t>
            </a:r>
            <a:br/>
            <a:r>
              <a:t>48 120 poids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1392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F6 (84 u.)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Dense</a:t>
            </a:r>
            <a:br/>
            <a:r>
              <a:t>10 164 poids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04704" y="4297680"/>
            <a:ext cx="1261872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Sortie (10)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RBF / Classes</a:t>
            </a:r>
            <a:br/>
            <a:r>
              <a:t>0 à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3. Données Chiffrées de l'Article d'Origine (LeCun 1998)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4/8  (3:00 - 4:00)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Résultats Mesurés sur la Base MNIST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Jeu de Données MNIST : Base de référence de 70 000 chiffres manuscrits (60 000 entraînement, 10 000 test) [Section VII].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Taux d'erreur record (0,8 %) : Erreur test stabilisée à 0,95 % sans distorsions, et 0,8 % avec distorsions d'entraînement [Table 2].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Nombre de paramètres : ~60 000 : Exactement 60 000 paramètres libres entraînables et 340 915 connexions [Section II-B, Table 1].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Temps de calcul &amp; Puces DSP : Moins de 10 ms par chiffre sur microprocesseur DSP dédié, permettant le traitement en temps réel.</a:t>
            </a:r>
          </a:p>
        </p:txBody>
      </p:sp>
      <p:pic>
        <p:nvPicPr>
          <p:cNvPr id="7" name="Picture 6" descr="fig07_apprentissag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4. Déploiement Industriel &amp; Applications Réelles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5/8  (4:00 - 4:50)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Un Succès Commercial Massif dès 1998 :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Déploiement Bancaire NCR : Intégré dans les machines de tri automatique de chèques bancaires par le constructeur NCR [Section I].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Des Millions de Chèques par Mois : LeNet-5 lisait en production plusieurs millions de chèques/mois aux USA [Section I].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~10 % du Volume Américain : Estimé à 10% de tous les chèques en circulation aux USA à la fin des années 1990 [Wikipédia, LeNet].</a:t>
            </a:r>
          </a:p>
          <a:p>
            <a:pPr>
              <a:spcAft>
                <a:spcPts val="800"/>
              </a:spcAft>
              <a:defRPr sz="1200">
                <a:solidFill>
                  <a:srgbClr val="475569"/>
                </a:solidFill>
              </a:defRPr>
            </a:pPr>
            <a:r>
              <a:t>• Lecture des Codes Postaux (USPS) : Utilisé également pour le tri postal automatique des enveloppes manuscrites.</a:t>
            </a:r>
          </a:p>
        </p:txBody>
      </p:sp>
      <p:pic>
        <p:nvPicPr>
          <p:cNvPr id="7" name="Picture 6" descr="fig08_cheque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5. Analyse Critique : Avantages et Inconvénients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6/8  (4:50 - 5:40) | Réf: LeCun et al. (1998)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✅ AVANTAGES MAJEURS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✔ Invariance spatiale : Reconnaît les motifs même déformés ou translatés grâce à l'association Convolution + Pooling.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✔ Forte compacité : Seulement 60 000 poids grâce au partage des filtres (contre des millions pour un réseau dense).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✔ Apprentissage de bout en bout : Extraction de caractéristiques et classification entraînées conjointement par rétropropagation.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✔ Haute fiabilité opérationnelle : Taux d'erreur &lt; 1 % en conditions industrielles réelles.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480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</a:defRPr>
            </a:pPr>
            <a:r>
              <a:t>❌ LIMITES &amp; INCONVÉNIENTS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✖ Limité aux petites images : Conçu pour des images monochromes de 32×32 pixels (insuffisant pour la photo couleur haute résolution).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✖ Fonctions d'activation saturantes : Utilisation de sigmoïdes / tanh provoquant l'évanouissement du gradient sur des réseaux plus profonds.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✖ Coût computationnel pour 1998 : Exigeait des processeurs DSP spécialisés (les GPU modernes n'existaient pas encore pour l'IA).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</a:defRPr>
            </a:pPr>
            <a:r>
              <a:t>✖ Sous-échantillonnage moyenné : Le pooling moyenné (S2, S4) est moins efficace que le Max-Pooling moderne.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6. Contribution à l'Évolution des Réseaux de Neurones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7/8  (5:40 - 6:25)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59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L'Arbre Généalogique de la Vision par Ordinateur :</a:t>
            </a:r>
          </a:p>
          <a:p>
            <a:pPr>
              <a:spcAft>
                <a:spcPts val="1000"/>
              </a:spcAft>
              <a:defRPr sz="1250">
                <a:solidFill>
                  <a:srgbClr val="475569"/>
                </a:solidFill>
              </a:defRPr>
            </a:pPr>
            <a:r>
              <a:t>🚀 Fondation du paradigme CNN : LeNet-5 a formalisé le triplet fondamental moderne : Convolution ➔ Non-linéarité ➔ Sous-échantillonnage (Pooling).</a:t>
            </a:r>
          </a:p>
          <a:p>
            <a:pPr>
              <a:spcAft>
                <a:spcPts val="1000"/>
              </a:spcAft>
              <a:defRPr sz="1250">
                <a:solidFill>
                  <a:srgbClr val="475569"/>
                </a:solidFill>
              </a:defRPr>
            </a:pPr>
            <a:r>
              <a:t>🚀 Fil conducteur direct vers AlexNet (2012) : AlexNet (vainqueur d'ImageNet 2012) est une extension directe de LeNet-5, transposée sur GPU avec ReLU et Dropout.</a:t>
            </a:r>
          </a:p>
          <a:p>
            <a:pPr>
              <a:spcAft>
                <a:spcPts val="1000"/>
              </a:spcAft>
              <a:defRPr sz="1250">
                <a:solidFill>
                  <a:srgbClr val="475569"/>
                </a:solidFill>
              </a:defRPr>
            </a:pPr>
            <a:r>
              <a:t>🚀 L'ère des architectures profondes : A ouvert la voie à VGG (2014), ResNet (2015) et aux modèles de vision actuels (Vision Transformers, YOLO).</a:t>
            </a:r>
          </a:p>
          <a:p>
            <a:pPr>
              <a:spcAft>
                <a:spcPts val="1000"/>
              </a:spcAft>
              <a:defRPr sz="1250">
                <a:solidFill>
                  <a:srgbClr val="475569"/>
                </a:solidFill>
              </a:defRPr>
            </a:pPr>
            <a:r>
              <a:t>🚀 Applications contemporaines omniprésentes : Du déverrouillage Face ID à l'imagerie médicale et aux véhicules autonomes, les principes de LeNet-5 restent au cœur de la vision 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46320"/>
            <a:ext cx="10725912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969DA"/>
                </a:solidFill>
              </a:defRPr>
            </a:pPr>
            <a:r>
              <a:t>🌐 BONUS INTERACTIF FOURNI : Dossier Web HTML autonome (dossier_rxneurones_lenet5.html)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Auteur : Feugang Noussi, Bernard (6189470) — Comprend 3 animations interactives et un quiz de 10 questions.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969DA"/>
                </a:solidFill>
              </a:defRPr>
            </a:pPr>
            <a:r>
              <a:t>ÉVALUATION 2 — PRÉSENTATION D'ARCHITECTURE (7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F172A"/>
                </a:solidFill>
              </a:defRPr>
            </a:pPr>
            <a:r>
              <a:t>7. Conclusion &amp; Questions (3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10725912" cy="32004"/>
          </a:xfrm>
          <a:prstGeom prst="rect">
            <a:avLst/>
          </a:prstGeom>
          <a:solidFill>
            <a:srgbClr val="0969DA"/>
          </a:solidFill>
          <a:ln>
            <a:solidFill>
              <a:srgbClr val="096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LeNet-5 (1998) | Feugang Noussi, Bernard (Matricule: 6189470) | Slide 8/8  (6:25 - 7:00) | Réf: LeCun et al. (1998)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Ce qu'il faut retenir en 3 points essentiels :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1. Une architecture Convolutive (CNN) : Spécialisée dans le traitement spatial 2D des images via des filtres partagés.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2. Une efficacité prouvée sur le terrain : 0,8% d'erreur sur MNIST et des millions de chèques traités chaque mois chez NCR.</a:t>
            </a:r>
          </a:p>
          <a:p>
            <a:pPr>
              <a:spcAft>
                <a:spcPts val="1200"/>
              </a:spcAft>
              <a:defRPr sz="1400">
                <a:solidFill>
                  <a:srgbClr val="475569"/>
                </a:solidFill>
              </a:defRPr>
            </a:pPr>
            <a:r>
              <a:t>✔ 3. Le point de départ du Deep Learning : Le socle architectural qui alimente la quasi-totalité des technologies de vision d'aujourd'hui.</a:t>
            </a:r>
          </a:p>
          <a:p>
            <a:pPr>
              <a:spcBef>
                <a:spcPts val="1600"/>
              </a:spcBef>
              <a:defRPr sz="1700" b="1">
                <a:solidFill>
                  <a:srgbClr val="0969DA"/>
                </a:solidFill>
              </a:defRPr>
            </a:pPr>
            <a:r>
              <a:t>💬 Merci pour votre attention ! (Feugang Noussi Bernard — 6189470)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