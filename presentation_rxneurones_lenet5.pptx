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3291840" cy="4114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969DA"/>
                </a:solidFill>
              </a:defRPr>
            </a:pPr>
            <a:r>
              <a:t>PROJET E26/A60 — INTELLIGENCE ARTIFICIELLE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Comprendre les Réseaux de Neurones</a:t>
            </a:r>
            <a:br/>
            <a:r>
              <a:t>&amp; l'Architecture Historique LeNet-5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75569"/>
                </a:solidFill>
              </a:defRPr>
            </a:pPr>
            <a:r>
              <a:t>De la détection d'un chiffre manuscrit (« 7 ») à la révolution de la vision par ordinateur moderne.</a:t>
            </a:r>
            <a:br/>
            <a:r>
              <a:t>Une approche progressive, visuelle et concrète.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969DA"/>
                </a:solidFill>
              </a:defRPr>
            </a:pPr>
            <a:r>
              <a:t>👤 Auteure de référence : Neila Mezghani (2024)   |   📄 Article fondateur : Yann LeCun et al. (1998)</a:t>
            </a:r>
            <a:br/>
            <a:r>
              <a:t>🎯 Format : Accessible, rigoureusement sourcé et structuré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1. Le Problème Concret : Comment une machine voit-elle 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2/11 | Sources : LeCun et al. (1998), Mezghani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Le Défi de la Vision Artificielle :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L'humain voit des formes globales : Nos yeux reconnaissent un « 7 » sans effort, même incliné, déformé ou avec une barre.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La machine ne voit que des chiffres : L'image est transformée en une matrice 2D de pixels numérotés de 0 (blanc) à 255 (noir/encre).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Le problème combinatoire : Écrire des règles à la main (ex. « si pixel A et pixel B... ») est impossible face à l'infinie variété des écritures.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La solution : Les réseaux de neurones : Laisser la machine apprendre automatiquement les motifs visuels à partir d'exemples annotés.</a:t>
            </a:r>
          </a:p>
        </p:txBody>
      </p:sp>
      <p:pic>
        <p:nvPicPr>
          <p:cNvPr id="7" name="Picture 6" descr="fig03_image_pixels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2. Le Neurone Artificiel : La Brique Élémentaire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3/11 | Sources : LeCun et al. (1998), Mezghani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Fonctionnement en 2 Étapes Mathématiques :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1. Entrées &amp; Poids (x × w) : Chaque entrée (pixel x) est multipliée par un poids ajustable (w) qui règle son importance relative.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2. La Somme Pondérée (∑) : Le neurone calcule la somme globale : z = (x₁·w₁ + x₂·w₂ + ... + xₙ·wₙ) + b (biais).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3. Le Seuil d'Activation (f) : Une fonction non linéaire (seuil, Sigmoïde, ReLU) compare la somme au seuil fixé.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4. Décision binaire / Signal : Si le total franchit le seuil, le neurone s'allume (1) et transmet son information.</a:t>
            </a:r>
          </a:p>
        </p:txBody>
      </p:sp>
      <p:pic>
        <p:nvPicPr>
          <p:cNvPr id="7" name="Picture 6" descr="fig01_neuron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3. Le Réseau : Des Couches qui Travaillent en Équipe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4/11 | Sources : LeCun et al. (1998), Mezghani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Hiérarchie de Décision en Couches :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Couche d'Entrée : Reçoit les données brutes (les pixels numérisés de l'image).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Couches Cachées (Hidden Layers) : Extraient des motifs de plus en plus abstraits (d'abord des lignes et angles, puis des boucles et formes complètes).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Couche de Sortie : Produit la décision finale parmi les classes possibles (ici, 10 probabilités de 0 à 9).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Puissance de la profondeur : En combinant des milliers de neurones simples, le réseau apprend des fonctions hautement complexes.</a:t>
            </a:r>
          </a:p>
        </p:txBody>
      </p:sp>
      <p:pic>
        <p:nvPicPr>
          <p:cNvPr id="7" name="Picture 6" descr="fig02_reseau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4. L'Apprentissage : Réduire l'Erreur pas à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5/11 | Sources : LeCun et al. (1998), Mezghani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Le Cycle Essai - Erreur - Correction :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1. Passe Avant (Forward Pass) : L'image traverse le réseau vers l'avant. Au départ (poids aléatoires), l'erreur est proche de 90%.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2. Calcul du Coût (Loss Function) : On mesure l'écart numérique entre la prédiction et la vérité terrain (étiquette « 7 »).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3. Rétropropagation (Backpropagation) : L'erreur remonte en sens inverse à travers le réseau en calculant les gradients.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4. Descente de Gradient : Chaque poids est légèrement corrigé pour réduire l'erreur lors du passage suivant.</a:t>
            </a:r>
          </a:p>
        </p:txBody>
      </p:sp>
      <p:pic>
        <p:nvPicPr>
          <p:cNvPr id="7" name="Picture 6" descr="fig07_apprentissag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5. La Convolution : La Fenêtre Glissante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6/11 | Sources : LeCun et al. (1998), Mezghani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Le Principe Fondateur des CNN :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Filtre / Noyau Glissant (Kernel) : Une petite matrice (ex. 5×5) balaye toute la surface de l'image pixel par pixel.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Détection Locale de Traits : Le filtre s'active fortement lorsqu'il rencontre la forme géométrique qu'il recherche (ex. barre horizontale du 7).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Carte de Caractéristiques (Feature Map) : Chaque filtre produit une nouvelle carte indiquant où le trait a été détecté.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Partage des Poids : Le même filtre est réutilisé sur toute l'image, réduisant drastiquement le nombre de paramètres à entraîner.</a:t>
            </a:r>
          </a:p>
        </p:txBody>
      </p:sp>
      <p:pic>
        <p:nvPicPr>
          <p:cNvPr id="7" name="Picture 6" descr="fig04_convolution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6. Le Pooling : Compresser et Garder l'Essentiel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7/11 | Sources : LeCun et al. (1998), Mezghani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Invariance et Compression Spatiale :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Principe du Max-Pooling (2×2) : On découpe la carte de traits en zones 2×2 et on ne garde que la valeur la plus forte.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Réduction Dimensionnelle : La largeur et la hauteur sont divisées par 2 (l'aire par 4), allégeant les calculs suivants.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Invariance aux Translations : Le réseau continue de reconnaître le chiffre même s'il est légèrement décalé ou déformé.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Alternance Stratégique : Dans LeNet-5, chaque couche de Convolution est immédiatement suivie d'une couche de Pooling.</a:t>
            </a:r>
          </a:p>
        </p:txBody>
      </p:sp>
      <p:pic>
        <p:nvPicPr>
          <p:cNvPr id="7" name="Picture 6" descr="fig05_pooling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7. LeNet-5 Couche par Couche (Yann LeCun et al., 1998)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8/11 | Sources : LeCun et al. (1998), Mezghani (2024)</a:t>
            </a:r>
          </a:p>
        </p:txBody>
      </p:sp>
      <p:pic>
        <p:nvPicPr>
          <p:cNvPr id="6" name="Picture 5" descr="fig06_lenet5_pipelin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54480"/>
            <a:ext cx="9966960" cy="9966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389120"/>
            <a:ext cx="1261872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Entrée (32×32)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Image centrée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4389120"/>
            <a:ext cx="1261872" cy="1645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C1 (28×28)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6 filtres 5×5</a:t>
            </a:r>
            <a:br/>
            <a:r>
              <a:t>156 poids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8144" y="4389120"/>
            <a:ext cx="1261872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S2 (14×14)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Subsampling 2×2</a:t>
            </a:r>
            <a:br/>
            <a:r>
              <a:t>12 poids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455" y="4389120"/>
            <a:ext cx="1261872" cy="1645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C3 (10×10)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16 filtres 5×5</a:t>
            </a:r>
            <a:br/>
            <a:r>
              <a:t>1 516 poids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4389120"/>
            <a:ext cx="1261872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S4 (5×5)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Subsampling 2×2</a:t>
            </a:r>
            <a:br/>
            <a:r>
              <a:t>32 poids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0" y="4389120"/>
            <a:ext cx="1261872" cy="1645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C5 (120 u.)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Dense / Conv</a:t>
            </a:r>
            <a:br/>
            <a:r>
              <a:t>48 120 poids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1392" y="4389120"/>
            <a:ext cx="1261872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F6 (84 u.)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Dense</a:t>
            </a:r>
            <a:br/>
            <a:r>
              <a:t>10 164 poids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04704" y="4389120"/>
            <a:ext cx="1261872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Sortie (10)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Probabilités 0-9</a:t>
            </a:r>
            <a:br/>
            <a:r>
              <a:t>Pic sur « 7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6A34A"/>
                </a:solidFill>
              </a:defRPr>
            </a:pPr>
            <a:r>
              <a:t>🎯 TOTAL PARAMÈTRES ENTRAÎNABLES : ~60 000 (Source primaire : LeCun et al., 1998, Section II-B, Table 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8. Résultats Concrets &amp; Déploiement Industriel (NCR)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9/11 | Sources : LeCun et al. (1998), Mezghani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Impact Économique et Performances Mesurées :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Taux d'Erreur Record sur MNIST (0,8 %) : Sur les 10 000 images de test standard, LeNet-5 stabilise son erreur à 0,95% sans distorsion et 0,8% avec distorsions [LeCun 1998, Table 2].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Déploiement Commercial NCR : Intégré dans les trieuses bancaires automatiques de la société NCR dès la fin des années 1990.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Millions de Chèques par Mois : La machine traitait des millions de chèques/mois, représentant selon les estimations ~10% du volume des chèques aux USA [LeCun 1998, Sec. I].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Compacité Impressionnante : Avec seulement 60 000 poids (~300 Ko), le modèle tournait en temps réel sur les processeurs DSP de 1998.</a:t>
            </a:r>
          </a:p>
        </p:txBody>
      </p:sp>
      <p:pic>
        <p:nvPicPr>
          <p:cNvPr id="7" name="Picture 6" descr="fig08_chequ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9. L'Héritage : 4 Applications Majeures Aujourd'hui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10/11 | Sources : LeCun et al. (1998), Mezghani (2024)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500" b="1">
                <a:solidFill>
                  <a:srgbClr val="0969DA"/>
                </a:solidFill>
              </a:defRPr>
            </a:pPr>
            <a:r>
              <a:t>📱 1. Déverrouillage Facial (Face ID)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Des CNN analysent la géométrie 3D infrarouge du visage pour sécuriser l'accès au smartphone en quelques millisecondes.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500" b="1">
                <a:solidFill>
                  <a:srgbClr val="0969DA"/>
                </a:solidFill>
              </a:defRPr>
            </a:pPr>
            <a:r>
              <a:t>🏥 2. Imagerie Médicale &amp; Radiologie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Détection automatique de micro-lésions, fractures et anomalies sur scanners, radiographies et IRM avec une grande sensibilité.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86200"/>
            <a:ext cx="52578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500" b="1">
                <a:solidFill>
                  <a:srgbClr val="0969DA"/>
                </a:solidFill>
              </a:defRPr>
            </a:pPr>
            <a:r>
              <a:t>🚗 3. Véhicules Autonomes &amp; ADAS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Reconnaissance en temps réel des panneaux de signalisation, des voies de circulation, des piétons et obstacles routiers.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2578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500" b="1">
                <a:solidFill>
                  <a:srgbClr val="0969DA"/>
                </a:solidFill>
              </a:defRPr>
            </a:pPr>
            <a:r>
              <a:t>🖼️ 4. Indexation &amp; Tri d'Albums Photos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Recherche sémantique et regroupement automatique d'images (animaux, paysages, visages) dans Google Photos / Apple Photos.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969DA"/>
                </a:solidFill>
              </a:defRPr>
            </a:pPr>
            <a:r>
              <a:t>PROJET E26/A60 — DOSSIER PÉDAGOGIQUE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10. Synthèse &amp; 5 Piliers à Retenir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3657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Réseaux de Neurones &amp; LeNet-5 | Slide 11/11 | Sources : LeCun et al. (1998), Mezghani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59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Les 5 Enseignements Clés du Projet :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✔ 1. L'Image comme Matrice — Pour la machine, une image est un tableau de nombres (pixels) représentant l'intensité lumineuse.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✔ 2. Le Neurone comme Somme Pondérée — L'unité fondamentale multiplie les entrées par des poids et compare le total à un seuil.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✔ 3. La Rétropropagation comme Moteur d'Apprentissage — L'ajustement systématique des poids par descente de gradient minimise l'erreur au fil des cycles.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✔ 4. La Convolution &amp; le Pooling comme Clés de la Vision — Le balayage par fenêtres glissantes combiné à la compression spatiale assure l'invariance aux déformations.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✔ 5. LeNet-5 comme Pionnier Industriel — 60 000 paramètres qui ont prouvé dès 1998 la viabilité et l'impact économique du deep learning.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